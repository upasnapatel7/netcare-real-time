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Poppins" panose="00000500000000000000"/>
      <p:regular r:id="rId21"/>
      <p:bold r:id="rId22"/>
      <p:italic r:id="rId23"/>
      <p:boldItalic r:id="rId24"/>
    </p:embeddedFont>
    <p:embeddedFont>
      <p:font typeface="League Spartan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1" name="Google Shape;10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7" name="Google Shape;12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4" name="Google Shape;15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5" name="Google Shape;17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93" name="Google Shape;19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43" name="Google Shape;24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56" name="Google Shape;25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83" name="Google Shape;283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300" name="Google Shape;300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5400000">
            <a:off x="3790155" y="-1766983"/>
            <a:ext cx="10567908" cy="18627574"/>
            <a:chOff x="0" y="0"/>
            <a:chExt cx="2783317" cy="490602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783317" cy="4906028"/>
            </a:xfrm>
            <a:custGeom>
              <a:avLst/>
              <a:gdLst/>
              <a:ahLst/>
              <a:cxnLst/>
              <a:rect l="l" t="t" r="r" b="b"/>
              <a:pathLst>
                <a:path w="2783317" h="4906028" extrusionOk="0">
                  <a:moveTo>
                    <a:pt x="0" y="0"/>
                  </a:moveTo>
                  <a:lnTo>
                    <a:pt x="2783317" y="0"/>
                  </a:lnTo>
                  <a:lnTo>
                    <a:pt x="2783317" y="4906028"/>
                  </a:lnTo>
                  <a:lnTo>
                    <a:pt x="0" y="4906028"/>
                  </a:lnTo>
                  <a:close/>
                </a:path>
              </a:pathLst>
            </a:custGeom>
            <a:gradFill>
              <a:gsLst>
                <a:gs pos="0">
                  <a:srgbClr val="B91319">
                    <a:alpha val="72941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19050"/>
              <a:ext cx="2783317" cy="4886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1383774">
            <a:off x="10283105" y="-978054"/>
            <a:ext cx="5160371" cy="14341591"/>
            <a:chOff x="0" y="0"/>
            <a:chExt cx="1359110" cy="3777209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1359110" cy="3777209"/>
            </a:xfrm>
            <a:custGeom>
              <a:avLst/>
              <a:gdLst/>
              <a:ahLst/>
              <a:cxnLst/>
              <a:rect l="l" t="t" r="r" b="b"/>
              <a:pathLst>
                <a:path w="1359110" h="3777209" extrusionOk="0">
                  <a:moveTo>
                    <a:pt x="0" y="0"/>
                  </a:moveTo>
                  <a:lnTo>
                    <a:pt x="1359110" y="0"/>
                  </a:lnTo>
                  <a:lnTo>
                    <a:pt x="1359110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28575"/>
              <a:ext cx="1359110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 rot="1383774">
            <a:off x="14267248" y="-1332792"/>
            <a:ext cx="6971453" cy="14341591"/>
            <a:chOff x="0" y="0"/>
            <a:chExt cx="1836103" cy="3777209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836103" cy="3777209"/>
            </a:xfrm>
            <a:custGeom>
              <a:avLst/>
              <a:gdLst/>
              <a:ahLst/>
              <a:cxnLst/>
              <a:rect l="l" t="t" r="r" b="b"/>
              <a:pathLst>
                <a:path w="1836103" h="3777209" extrusionOk="0">
                  <a:moveTo>
                    <a:pt x="0" y="0"/>
                  </a:moveTo>
                  <a:lnTo>
                    <a:pt x="1836103" y="0"/>
                  </a:lnTo>
                  <a:lnTo>
                    <a:pt x="1836103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28575"/>
              <a:ext cx="1836103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693550" y="2729775"/>
            <a:ext cx="14990400" cy="18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7"/>
              <a:buFont typeface="Arial" panose="020B0604020202020204"/>
              <a:buNone/>
            </a:pPr>
            <a:r>
              <a:rPr lang="en-US" sz="1217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Netcare + Real-Time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550035" y="7331075"/>
            <a:ext cx="7762875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Team Name :  CodeNova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078525" y="4804950"/>
            <a:ext cx="1380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1" i="1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AI-Driven Emergency Response &amp; Network Intelligence Platform</a:t>
            </a:r>
            <a:endParaRPr sz="4000" b="1" i="1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5403830" y="504825"/>
            <a:ext cx="1894205" cy="1758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 rot="-4011154">
            <a:off x="11938020" y="-1089190"/>
            <a:ext cx="17403374" cy="18180272"/>
            <a:chOff x="0" y="0"/>
            <a:chExt cx="4583605" cy="478822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4583605" cy="4788220"/>
            </a:xfrm>
            <a:custGeom>
              <a:avLst/>
              <a:gdLst/>
              <a:ahLst/>
              <a:cxnLst/>
              <a:rect l="l" t="t" r="r" b="b"/>
              <a:pathLst>
                <a:path w="4583605" h="4788220" extrusionOk="0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3073028" y="3456419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Problem Statement &amp; Target Audience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073028" y="4181873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Our Innovative Solution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073028" y="4907326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Technical Stack &amp; Architecture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054992" y="5632780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Feasibility &amp; Key Challenges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3077996" y="7083687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Team Members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999790" y="1339473"/>
            <a:ext cx="8565796" cy="1470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 panose="020B0604020202020204"/>
              <a:buNone/>
            </a:pPr>
            <a:r>
              <a:rPr lang="en-US" sz="10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153902" y="3449115"/>
            <a:ext cx="901090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130682" y="4174568"/>
            <a:ext cx="937378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148934" y="4900022"/>
            <a:ext cx="929062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148718" y="5625475"/>
            <a:ext cx="906274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2153902" y="6350929"/>
            <a:ext cx="901090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143966" y="7076382"/>
            <a:ext cx="911026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 rot="1383774">
            <a:off x="15412298" y="-1877089"/>
            <a:ext cx="2444557" cy="14341591"/>
            <a:chOff x="0" y="0"/>
            <a:chExt cx="643834" cy="3777209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643834" cy="3777209"/>
            </a:xfrm>
            <a:custGeom>
              <a:avLst/>
              <a:gdLst/>
              <a:ahLst/>
              <a:cxnLst/>
              <a:rect l="l" t="t" r="r" b="b"/>
              <a:pathLst>
                <a:path w="643834" h="3777209" extrusionOk="0">
                  <a:moveTo>
                    <a:pt x="0" y="0"/>
                  </a:moveTo>
                  <a:lnTo>
                    <a:pt x="643834" y="0"/>
                  </a:lnTo>
                  <a:lnTo>
                    <a:pt x="643834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28575"/>
              <a:ext cx="643834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 rot="1383774">
            <a:off x="9720018" y="-2363343"/>
            <a:ext cx="4927082" cy="14341591"/>
            <a:chOff x="0" y="0"/>
            <a:chExt cx="1297668" cy="3777209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297668" cy="3777209"/>
            </a:xfrm>
            <a:custGeom>
              <a:avLst/>
              <a:gdLst/>
              <a:ahLst/>
              <a:cxnLst/>
              <a:rect l="l" t="t" r="r" b="b"/>
              <a:pathLst>
                <a:path w="1297668" h="3777209" extrusionOk="0">
                  <a:moveTo>
                    <a:pt x="0" y="0"/>
                  </a:moveTo>
                  <a:lnTo>
                    <a:pt x="1297668" y="0"/>
                  </a:lnTo>
                  <a:lnTo>
                    <a:pt x="1297668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28575"/>
              <a:ext cx="1297668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4" name="Google Shape;124;p2"/>
          <p:cNvSpPr txBox="1"/>
          <p:nvPr/>
        </p:nvSpPr>
        <p:spPr>
          <a:xfrm>
            <a:off x="3068060" y="6358233"/>
            <a:ext cx="8000572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Unique Selling Point &amp; Business Model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"/>
          <p:cNvGrpSpPr/>
          <p:nvPr/>
        </p:nvGrpSpPr>
        <p:grpSpPr>
          <a:xfrm rot="3221219">
            <a:off x="-4582610" y="-2504460"/>
            <a:ext cx="11389006" cy="12769445"/>
            <a:chOff x="0" y="0"/>
            <a:chExt cx="2999574" cy="3363146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2999573" cy="3363146"/>
            </a:xfrm>
            <a:custGeom>
              <a:avLst/>
              <a:gdLst/>
              <a:ahLst/>
              <a:cxnLst/>
              <a:rect l="l" t="t" r="r" b="b"/>
              <a:pathLst>
                <a:path w="2999573" h="3363146" extrusionOk="0">
                  <a:moveTo>
                    <a:pt x="0" y="0"/>
                  </a:moveTo>
                  <a:lnTo>
                    <a:pt x="2999573" y="0"/>
                  </a:lnTo>
                  <a:lnTo>
                    <a:pt x="299957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31" name="Google Shape;131;p3"/>
            <p:cNvSpPr txBox="1"/>
            <p:nvPr/>
          </p:nvSpPr>
          <p:spPr>
            <a:xfrm>
              <a:off x="0" y="19050"/>
              <a:ext cx="2999574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2054475" y="2583028"/>
            <a:ext cx="6156695" cy="5791553"/>
            <a:chOff x="-2" y="0"/>
            <a:chExt cx="1621517" cy="1525348"/>
          </a:xfrm>
        </p:grpSpPr>
        <p:sp>
          <p:nvSpPr>
            <p:cNvPr id="133" name="Google Shape;133;p3"/>
            <p:cNvSpPr/>
            <p:nvPr/>
          </p:nvSpPr>
          <p:spPr>
            <a:xfrm>
              <a:off x="0" y="0"/>
              <a:ext cx="1621515" cy="1506298"/>
            </a:xfrm>
            <a:custGeom>
              <a:avLst/>
              <a:gdLst/>
              <a:ahLst/>
              <a:cxnLst/>
              <a:rect l="l" t="t" r="r" b="b"/>
              <a:pathLst>
                <a:path w="1621515" h="1506298" extrusionOk="0">
                  <a:moveTo>
                    <a:pt x="26407" y="0"/>
                  </a:moveTo>
                  <a:lnTo>
                    <a:pt x="1595107" y="0"/>
                  </a:lnTo>
                  <a:cubicBezTo>
                    <a:pt x="1609692" y="0"/>
                    <a:pt x="1621515" y="11823"/>
                    <a:pt x="1621515" y="26407"/>
                  </a:cubicBezTo>
                  <a:lnTo>
                    <a:pt x="1621515" y="1479891"/>
                  </a:lnTo>
                  <a:cubicBezTo>
                    <a:pt x="1621515" y="1494475"/>
                    <a:pt x="1609692" y="1506298"/>
                    <a:pt x="1595107" y="1506298"/>
                  </a:cubicBezTo>
                  <a:lnTo>
                    <a:pt x="26407" y="1506298"/>
                  </a:lnTo>
                  <a:cubicBezTo>
                    <a:pt x="11823" y="1506298"/>
                    <a:pt x="0" y="1494475"/>
                    <a:pt x="0" y="1479891"/>
                  </a:cubicBezTo>
                  <a:lnTo>
                    <a:pt x="0" y="26407"/>
                  </a:lnTo>
                  <a:cubicBezTo>
                    <a:pt x="0" y="11823"/>
                    <a:pt x="11823" y="0"/>
                    <a:pt x="26407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-2" y="19048"/>
              <a:ext cx="1621500" cy="15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Emergency healthcare in India faces three      major gaps: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02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 panose="020B0604020202020204"/>
                <a:buChar char="●"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Emergency response is slow because patient data, location, and doctor availability are not in one place.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 panose="020B0604020202020204"/>
                <a:buChar char="●"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Poor network quality disrupts telemedicine and coordination.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 panose="020B0604020202020204"/>
                <a:buChar char="●"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No real-time dashboard → delays in treatment and decision-making.</a:t>
              </a:r>
              <a:br>
                <a:rPr lang="en-US" sz="25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</a:br>
              <a:endParaRPr sz="25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5" name="Google Shape;135;p3"/>
          <p:cNvGrpSpPr/>
          <p:nvPr/>
        </p:nvGrpSpPr>
        <p:grpSpPr>
          <a:xfrm>
            <a:off x="9144000" y="2583028"/>
            <a:ext cx="6038873" cy="5719224"/>
            <a:chOff x="0" y="0"/>
            <a:chExt cx="1590485" cy="1506298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1590485" cy="1506298"/>
            </a:xfrm>
            <a:custGeom>
              <a:avLst/>
              <a:gdLst/>
              <a:ahLst/>
              <a:cxnLst/>
              <a:rect l="l" t="t" r="r" b="b"/>
              <a:pathLst>
                <a:path w="1590485" h="1506298" extrusionOk="0">
                  <a:moveTo>
                    <a:pt x="26922" y="0"/>
                  </a:moveTo>
                  <a:lnTo>
                    <a:pt x="1563563" y="0"/>
                  </a:lnTo>
                  <a:cubicBezTo>
                    <a:pt x="1570703" y="0"/>
                    <a:pt x="1577551" y="2836"/>
                    <a:pt x="1582600" y="7885"/>
                  </a:cubicBezTo>
                  <a:cubicBezTo>
                    <a:pt x="1587649" y="12934"/>
                    <a:pt x="1590485" y="19782"/>
                    <a:pt x="1590485" y="26922"/>
                  </a:cubicBezTo>
                  <a:lnTo>
                    <a:pt x="1590485" y="1479375"/>
                  </a:lnTo>
                  <a:cubicBezTo>
                    <a:pt x="1590485" y="1486516"/>
                    <a:pt x="1587649" y="1493363"/>
                    <a:pt x="1582600" y="1498412"/>
                  </a:cubicBezTo>
                  <a:cubicBezTo>
                    <a:pt x="1577551" y="1503461"/>
                    <a:pt x="1570703" y="1506298"/>
                    <a:pt x="1563563" y="1506298"/>
                  </a:cubicBezTo>
                  <a:lnTo>
                    <a:pt x="26922" y="1506298"/>
                  </a:lnTo>
                  <a:cubicBezTo>
                    <a:pt x="19782" y="1506298"/>
                    <a:pt x="12934" y="1503461"/>
                    <a:pt x="7885" y="1498412"/>
                  </a:cubicBezTo>
                  <a:cubicBezTo>
                    <a:pt x="2836" y="1493363"/>
                    <a:pt x="0" y="1486516"/>
                    <a:pt x="0" y="1479375"/>
                  </a:cubicBezTo>
                  <a:lnTo>
                    <a:pt x="0" y="26922"/>
                  </a:lnTo>
                  <a:cubicBezTo>
                    <a:pt x="0" y="19782"/>
                    <a:pt x="2836" y="12934"/>
                    <a:pt x="7885" y="7885"/>
                  </a:cubicBezTo>
                  <a:cubicBezTo>
                    <a:pt x="12934" y="2836"/>
                    <a:pt x="19782" y="0"/>
                    <a:pt x="26922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19050"/>
              <a:ext cx="1590485" cy="1487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25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Primary: Hospitals, doctors, ambulance services.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Secondary: Patients, rural areas, emergency operators.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Beneficiaries: Critical/emergency cases needing fast response.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9440225" y="3012350"/>
            <a:ext cx="5407908" cy="675884"/>
            <a:chOff x="0" y="0"/>
            <a:chExt cx="5950603" cy="901179"/>
          </a:xfrm>
        </p:grpSpPr>
        <p:grpSp>
          <p:nvGrpSpPr>
            <p:cNvPr id="139" name="Google Shape;139;p3"/>
            <p:cNvGrpSpPr/>
            <p:nvPr/>
          </p:nvGrpSpPr>
          <p:grpSpPr>
            <a:xfrm>
              <a:off x="0" y="0"/>
              <a:ext cx="901179" cy="901179"/>
              <a:chOff x="0" y="0"/>
              <a:chExt cx="812800" cy="81280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13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1" name="Google Shape;141;p3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2" name="Google Shape;142;p3"/>
            <p:cNvSpPr/>
            <p:nvPr/>
          </p:nvSpPr>
          <p:spPr>
            <a:xfrm>
              <a:off x="124407" y="147017"/>
              <a:ext cx="652366" cy="607146"/>
            </a:xfrm>
            <a:custGeom>
              <a:avLst/>
              <a:gdLst/>
              <a:ahLst/>
              <a:cxnLst/>
              <a:rect l="l" t="t" r="r" b="b"/>
              <a:pathLst>
                <a:path w="652366" h="607146" extrusionOk="0">
                  <a:moveTo>
                    <a:pt x="0" y="0"/>
                  </a:moveTo>
                  <a:lnTo>
                    <a:pt x="652365" y="0"/>
                  </a:lnTo>
                  <a:lnTo>
                    <a:pt x="652365" y="607145"/>
                  </a:lnTo>
                  <a:lnTo>
                    <a:pt x="0" y="6071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  <p:sp>
          <p:nvSpPr>
            <p:cNvPr id="143" name="Google Shape;143;p3"/>
            <p:cNvSpPr txBox="1"/>
            <p:nvPr/>
          </p:nvSpPr>
          <p:spPr>
            <a:xfrm>
              <a:off x="1072303" y="108789"/>
              <a:ext cx="48783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9"/>
                <a:buFont typeface="Arial" panose="020B0604020202020204"/>
                <a:buNone/>
              </a:pPr>
              <a:r>
                <a:rPr lang="en-US" sz="32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Target Audience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2473250" y="2583025"/>
            <a:ext cx="4672496" cy="1105219"/>
            <a:chOff x="0" y="-572446"/>
            <a:chExt cx="5367600" cy="1473625"/>
          </a:xfrm>
        </p:grpSpPr>
        <p:grpSp>
          <p:nvGrpSpPr>
            <p:cNvPr id="145" name="Google Shape;145;p3"/>
            <p:cNvGrpSpPr/>
            <p:nvPr/>
          </p:nvGrpSpPr>
          <p:grpSpPr>
            <a:xfrm>
              <a:off x="0" y="0"/>
              <a:ext cx="901179" cy="901179"/>
              <a:chOff x="0" y="0"/>
              <a:chExt cx="812800" cy="812800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13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7" name="Google Shape;147;p3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8" name="Google Shape;148;p3"/>
            <p:cNvSpPr/>
            <p:nvPr/>
          </p:nvSpPr>
          <p:spPr>
            <a:xfrm>
              <a:off x="253119" y="146378"/>
              <a:ext cx="394942" cy="608424"/>
            </a:xfrm>
            <a:custGeom>
              <a:avLst/>
              <a:gdLst/>
              <a:ahLst/>
              <a:cxnLst/>
              <a:rect l="l" t="t" r="r" b="b"/>
              <a:pathLst>
                <a:path w="394942" h="608424" extrusionOk="0">
                  <a:moveTo>
                    <a:pt x="0" y="0"/>
                  </a:moveTo>
                  <a:lnTo>
                    <a:pt x="394941" y="0"/>
                  </a:lnTo>
                  <a:lnTo>
                    <a:pt x="394941" y="608424"/>
                  </a:lnTo>
                  <a:lnTo>
                    <a:pt x="0" y="6084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</p:sp>
        <p:sp>
          <p:nvSpPr>
            <p:cNvPr id="149" name="Google Shape;149;p3"/>
            <p:cNvSpPr txBox="1"/>
            <p:nvPr/>
          </p:nvSpPr>
          <p:spPr>
            <a:xfrm>
              <a:off x="0" y="-572446"/>
              <a:ext cx="5367600" cy="13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9"/>
                <a:buFont typeface="Arial" panose="020B0604020202020204"/>
                <a:buNone/>
              </a:pPr>
              <a:endParaRPr sz="32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9"/>
                <a:buFont typeface="Arial" panose="020B0604020202020204"/>
                <a:buNone/>
              </a:pPr>
              <a:r>
                <a:rPr lang="en-US" sz="32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Problem Statement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0" name="Google Shape;150;p3"/>
          <p:cNvSpPr txBox="1"/>
          <p:nvPr/>
        </p:nvSpPr>
        <p:spPr>
          <a:xfrm>
            <a:off x="2054475" y="1319400"/>
            <a:ext cx="15861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&amp; TARGET AUDIENCE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431084" y="1234698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4"/>
          <p:cNvGrpSpPr/>
          <p:nvPr/>
        </p:nvGrpSpPr>
        <p:grpSpPr>
          <a:xfrm rot="8162908">
            <a:off x="9868372" y="-2619969"/>
            <a:ext cx="10689172" cy="12769445"/>
            <a:chOff x="0" y="0"/>
            <a:chExt cx="2815255" cy="3363146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2815255" cy="3363146"/>
            </a:xfrm>
            <a:custGeom>
              <a:avLst/>
              <a:gdLst/>
              <a:ahLst/>
              <a:cxnLst/>
              <a:rect l="l" t="t" r="r" b="b"/>
              <a:pathLst>
                <a:path w="2815255" h="3363146" extrusionOk="0">
                  <a:moveTo>
                    <a:pt x="0" y="0"/>
                  </a:moveTo>
                  <a:lnTo>
                    <a:pt x="2815255" y="0"/>
                  </a:lnTo>
                  <a:lnTo>
                    <a:pt x="2815255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>
                    <a:alpha val="87843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58" name="Google Shape;158;p4"/>
            <p:cNvSpPr txBox="1"/>
            <p:nvPr/>
          </p:nvSpPr>
          <p:spPr>
            <a:xfrm>
              <a:off x="0" y="19050"/>
              <a:ext cx="2815255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9" name="Google Shape;159;p4"/>
          <p:cNvSpPr txBox="1"/>
          <p:nvPr/>
        </p:nvSpPr>
        <p:spPr>
          <a:xfrm>
            <a:off x="2073802" y="1247975"/>
            <a:ext cx="10862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INNOVATIVE SOLUTION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60" name="Google Shape;160;p4"/>
          <p:cNvGrpSpPr/>
          <p:nvPr/>
        </p:nvGrpSpPr>
        <p:grpSpPr>
          <a:xfrm>
            <a:off x="232969" y="3009250"/>
            <a:ext cx="3497860" cy="4268380"/>
            <a:chOff x="-502570" y="-13"/>
            <a:chExt cx="958344" cy="1113471"/>
          </a:xfrm>
        </p:grpSpPr>
        <p:sp>
          <p:nvSpPr>
            <p:cNvPr id="161" name="Google Shape;161;p4"/>
            <p:cNvSpPr/>
            <p:nvPr/>
          </p:nvSpPr>
          <p:spPr>
            <a:xfrm>
              <a:off x="-502570" y="-13"/>
              <a:ext cx="958344" cy="1113471"/>
            </a:xfrm>
            <a:custGeom>
              <a:avLst/>
              <a:gdLst/>
              <a:ahLst/>
              <a:cxnLst/>
              <a:rect l="l" t="t" r="r" b="b"/>
              <a:pathLst>
                <a:path w="958344" h="1113471" extrusionOk="0">
                  <a:moveTo>
                    <a:pt x="44255" y="0"/>
                  </a:moveTo>
                  <a:lnTo>
                    <a:pt x="914089" y="0"/>
                  </a:lnTo>
                  <a:cubicBezTo>
                    <a:pt x="938531" y="0"/>
                    <a:pt x="958344" y="19814"/>
                    <a:pt x="958344" y="44255"/>
                  </a:cubicBezTo>
                  <a:lnTo>
                    <a:pt x="958344" y="1069216"/>
                  </a:lnTo>
                  <a:cubicBezTo>
                    <a:pt x="958344" y="1093658"/>
                    <a:pt x="938531" y="1113471"/>
                    <a:pt x="914089" y="1113471"/>
                  </a:cubicBezTo>
                  <a:lnTo>
                    <a:pt x="44255" y="1113471"/>
                  </a:lnTo>
                  <a:cubicBezTo>
                    <a:pt x="19814" y="1113471"/>
                    <a:pt x="0" y="1093658"/>
                    <a:pt x="0" y="1069216"/>
                  </a:cubicBezTo>
                  <a:lnTo>
                    <a:pt x="0" y="44255"/>
                  </a:lnTo>
                  <a:cubicBezTo>
                    <a:pt x="0" y="19814"/>
                    <a:pt x="19814" y="0"/>
                    <a:pt x="4425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" name="Google Shape;162;p4"/>
            <p:cNvSpPr txBox="1"/>
            <p:nvPr/>
          </p:nvSpPr>
          <p:spPr>
            <a:xfrm>
              <a:off x="-502493" y="9541"/>
              <a:ext cx="958200" cy="10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Instant Emergency Intelligence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Instant case creation with patient details, symptoms &amp; live location.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Smart risk scoring + unique Case ID generation.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doctor alerts &amp; case acceptance.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Unified dashboard replacing fragmented systems.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1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4211365" y="2972700"/>
            <a:ext cx="3407584" cy="4268380"/>
            <a:chOff x="-485600" y="-9548"/>
            <a:chExt cx="958344" cy="1113471"/>
          </a:xfrm>
        </p:grpSpPr>
        <p:sp>
          <p:nvSpPr>
            <p:cNvPr id="164" name="Google Shape;164;p4"/>
            <p:cNvSpPr/>
            <p:nvPr/>
          </p:nvSpPr>
          <p:spPr>
            <a:xfrm>
              <a:off x="-485600" y="-9548"/>
              <a:ext cx="958344" cy="1113471"/>
            </a:xfrm>
            <a:custGeom>
              <a:avLst/>
              <a:gdLst/>
              <a:ahLst/>
              <a:cxnLst/>
              <a:rect l="l" t="t" r="r" b="b"/>
              <a:pathLst>
                <a:path w="958344" h="1113471" extrusionOk="0">
                  <a:moveTo>
                    <a:pt x="44255" y="0"/>
                  </a:moveTo>
                  <a:lnTo>
                    <a:pt x="914089" y="0"/>
                  </a:lnTo>
                  <a:cubicBezTo>
                    <a:pt x="938531" y="0"/>
                    <a:pt x="958344" y="19814"/>
                    <a:pt x="958344" y="44255"/>
                  </a:cubicBezTo>
                  <a:lnTo>
                    <a:pt x="958344" y="1069216"/>
                  </a:lnTo>
                  <a:cubicBezTo>
                    <a:pt x="958344" y="1093658"/>
                    <a:pt x="938531" y="1113471"/>
                    <a:pt x="914089" y="1113471"/>
                  </a:cubicBezTo>
                  <a:lnTo>
                    <a:pt x="44255" y="1113471"/>
                  </a:lnTo>
                  <a:cubicBezTo>
                    <a:pt x="19814" y="1113471"/>
                    <a:pt x="0" y="1093658"/>
                    <a:pt x="0" y="1069216"/>
                  </a:cubicBezTo>
                  <a:lnTo>
                    <a:pt x="0" y="44255"/>
                  </a:lnTo>
                  <a:cubicBezTo>
                    <a:pt x="0" y="19814"/>
                    <a:pt x="19814" y="0"/>
                    <a:pt x="4425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-485527" y="-13"/>
              <a:ext cx="958200" cy="10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Network &amp; Communication Engine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4G/5G network quality analyzer for stable telemedicine.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Tower strength, latency &amp; stability monitoring.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Predictive connectivity checks during emergencies.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Ensures uninterrupted doctor–patient communication.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1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8045650" y="2972700"/>
            <a:ext cx="3407586" cy="4268380"/>
            <a:chOff x="-226908" y="-13"/>
            <a:chExt cx="958345" cy="1113471"/>
          </a:xfrm>
        </p:grpSpPr>
        <p:sp>
          <p:nvSpPr>
            <p:cNvPr id="167" name="Google Shape;167;p4"/>
            <p:cNvSpPr/>
            <p:nvPr/>
          </p:nvSpPr>
          <p:spPr>
            <a:xfrm>
              <a:off x="-226907" y="-13"/>
              <a:ext cx="958344" cy="1113471"/>
            </a:xfrm>
            <a:custGeom>
              <a:avLst/>
              <a:gdLst/>
              <a:ahLst/>
              <a:cxnLst/>
              <a:rect l="l" t="t" r="r" b="b"/>
              <a:pathLst>
                <a:path w="958344" h="1113471" extrusionOk="0">
                  <a:moveTo>
                    <a:pt x="44255" y="0"/>
                  </a:moveTo>
                  <a:lnTo>
                    <a:pt x="914089" y="0"/>
                  </a:lnTo>
                  <a:cubicBezTo>
                    <a:pt x="938531" y="0"/>
                    <a:pt x="958344" y="19814"/>
                    <a:pt x="958344" y="44255"/>
                  </a:cubicBezTo>
                  <a:lnTo>
                    <a:pt x="958344" y="1069216"/>
                  </a:lnTo>
                  <a:cubicBezTo>
                    <a:pt x="958344" y="1093658"/>
                    <a:pt x="938531" y="1113471"/>
                    <a:pt x="914089" y="1113471"/>
                  </a:cubicBezTo>
                  <a:lnTo>
                    <a:pt x="44255" y="1113471"/>
                  </a:lnTo>
                  <a:cubicBezTo>
                    <a:pt x="19814" y="1113471"/>
                    <a:pt x="0" y="1093658"/>
                    <a:pt x="0" y="1069216"/>
                  </a:cubicBezTo>
                  <a:lnTo>
                    <a:pt x="0" y="44255"/>
                  </a:lnTo>
                  <a:cubicBezTo>
                    <a:pt x="0" y="19814"/>
                    <a:pt x="19814" y="0"/>
                    <a:pt x="4425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-226908" y="9522"/>
              <a:ext cx="958200" cy="10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Routing &amp; Hospital Coordination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Optimized ambulance route through dynamic maps.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ambulance tracking + patient vitals + status updates.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Doctor portal for notes, treatment updates &amp; case timeline.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Complete operational view of hospital &amp; doctors.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69" name="Google Shape;169;p4"/>
          <p:cNvSpPr txBox="1"/>
          <p:nvPr/>
        </p:nvSpPr>
        <p:spPr>
          <a:xfrm>
            <a:off x="2800200" y="3261575"/>
            <a:ext cx="223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11376863" y="3261575"/>
            <a:ext cx="3012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31084" y="1229935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2" name="Google Shape;172;p4" title="Screenshot 2025-11-19 163150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754175" y="2426025"/>
            <a:ext cx="6388499" cy="624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5"/>
          <p:cNvGrpSpPr/>
          <p:nvPr/>
        </p:nvGrpSpPr>
        <p:grpSpPr>
          <a:xfrm rot="3221219">
            <a:off x="-4104668" y="-3418987"/>
            <a:ext cx="12914475" cy="12769445"/>
            <a:chOff x="0" y="0"/>
            <a:chExt cx="3401343" cy="3363146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3401343" cy="3363146"/>
            </a:xfrm>
            <a:custGeom>
              <a:avLst/>
              <a:gdLst/>
              <a:ahLst/>
              <a:cxnLst/>
              <a:rect l="l" t="t" r="r" b="b"/>
              <a:pathLst>
                <a:path w="3401343" h="3363146" extrusionOk="0">
                  <a:moveTo>
                    <a:pt x="0" y="0"/>
                  </a:moveTo>
                  <a:lnTo>
                    <a:pt x="3401343" y="0"/>
                  </a:lnTo>
                  <a:lnTo>
                    <a:pt x="340134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9" name="Google Shape;179;p5"/>
            <p:cNvSpPr txBox="1"/>
            <p:nvPr/>
          </p:nvSpPr>
          <p:spPr>
            <a:xfrm>
              <a:off x="0" y="19050"/>
              <a:ext cx="3401343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1174150" y="2680684"/>
            <a:ext cx="3933068" cy="6733076"/>
            <a:chOff x="-2" y="0"/>
            <a:chExt cx="1026000" cy="1756424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1025907" cy="1756424"/>
            </a:xfrm>
            <a:custGeom>
              <a:avLst/>
              <a:gdLst/>
              <a:ahLst/>
              <a:cxnLst/>
              <a:rect l="l" t="t" r="r" b="b"/>
              <a:pathLst>
                <a:path w="1025907" h="1756424" extrusionOk="0">
                  <a:moveTo>
                    <a:pt x="41340" y="0"/>
                  </a:moveTo>
                  <a:lnTo>
                    <a:pt x="984567" y="0"/>
                  </a:lnTo>
                  <a:cubicBezTo>
                    <a:pt x="1007398" y="0"/>
                    <a:pt x="1025907" y="18509"/>
                    <a:pt x="1025907" y="41340"/>
                  </a:cubicBezTo>
                  <a:lnTo>
                    <a:pt x="1025907" y="1715084"/>
                  </a:lnTo>
                  <a:cubicBezTo>
                    <a:pt x="1025907" y="1726048"/>
                    <a:pt x="1021552" y="1736563"/>
                    <a:pt x="1013799" y="1744316"/>
                  </a:cubicBezTo>
                  <a:cubicBezTo>
                    <a:pt x="1006046" y="1752069"/>
                    <a:pt x="995531" y="1756424"/>
                    <a:pt x="984567" y="1756424"/>
                  </a:cubicBezTo>
                  <a:lnTo>
                    <a:pt x="41340" y="1756424"/>
                  </a:lnTo>
                  <a:cubicBezTo>
                    <a:pt x="30376" y="1756424"/>
                    <a:pt x="19861" y="1752069"/>
                    <a:pt x="12108" y="1744316"/>
                  </a:cubicBezTo>
                  <a:cubicBezTo>
                    <a:pt x="4355" y="1736563"/>
                    <a:pt x="0" y="1726048"/>
                    <a:pt x="0" y="1715084"/>
                  </a:cubicBezTo>
                  <a:lnTo>
                    <a:pt x="0" y="41340"/>
                  </a:lnTo>
                  <a:cubicBezTo>
                    <a:pt x="0" y="30376"/>
                    <a:pt x="4355" y="19861"/>
                    <a:pt x="12108" y="12108"/>
                  </a:cubicBezTo>
                  <a:cubicBezTo>
                    <a:pt x="19861" y="4355"/>
                    <a:pt x="30376" y="0"/>
                    <a:pt x="41340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-2" y="19047"/>
              <a:ext cx="1026000" cy="16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Frontend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Streamlit (UI)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Plotly (interactive charts)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Folium (live maps)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Backend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Python (core engine)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REST APIs (network + location + case updates)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Data Handling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Pandas, NumPy (real-time data processing)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JSON (lightweight storage)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Additional Tools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UUID (secure case IDs)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Custom CSS (modern healthcare UI)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5952403" y="2680675"/>
            <a:ext cx="6910102" cy="6733076"/>
            <a:chOff x="-143649" y="0"/>
            <a:chExt cx="2536748" cy="1756424"/>
          </a:xfrm>
        </p:grpSpPr>
        <p:sp>
          <p:nvSpPr>
            <p:cNvPr id="184" name="Google Shape;184;p5"/>
            <p:cNvSpPr/>
            <p:nvPr/>
          </p:nvSpPr>
          <p:spPr>
            <a:xfrm>
              <a:off x="-143649" y="0"/>
              <a:ext cx="2524848" cy="1756424"/>
            </a:xfrm>
            <a:custGeom>
              <a:avLst/>
              <a:gdLst/>
              <a:ahLst/>
              <a:cxnLst/>
              <a:rect l="l" t="t" r="r" b="b"/>
              <a:pathLst>
                <a:path w="2524848" h="1756424" extrusionOk="0">
                  <a:moveTo>
                    <a:pt x="16798" y="0"/>
                  </a:moveTo>
                  <a:lnTo>
                    <a:pt x="2508051" y="0"/>
                  </a:lnTo>
                  <a:cubicBezTo>
                    <a:pt x="2517328" y="0"/>
                    <a:pt x="2524848" y="7521"/>
                    <a:pt x="2524848" y="16798"/>
                  </a:cubicBezTo>
                  <a:lnTo>
                    <a:pt x="2524848" y="1739627"/>
                  </a:lnTo>
                  <a:cubicBezTo>
                    <a:pt x="2524848" y="1748904"/>
                    <a:pt x="2517328" y="1756424"/>
                    <a:pt x="2508051" y="1756424"/>
                  </a:cubicBezTo>
                  <a:lnTo>
                    <a:pt x="16798" y="1756424"/>
                  </a:lnTo>
                  <a:cubicBezTo>
                    <a:pt x="12343" y="1756424"/>
                    <a:pt x="8070" y="1754655"/>
                    <a:pt x="4920" y="1751505"/>
                  </a:cubicBezTo>
                  <a:cubicBezTo>
                    <a:pt x="1770" y="1748354"/>
                    <a:pt x="0" y="1744082"/>
                    <a:pt x="0" y="1739627"/>
                  </a:cubicBezTo>
                  <a:lnTo>
                    <a:pt x="0" y="16798"/>
                  </a:lnTo>
                  <a:cubicBezTo>
                    <a:pt x="0" y="7521"/>
                    <a:pt x="7521" y="0"/>
                    <a:pt x="16798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-1" y="19050"/>
              <a:ext cx="2393100" cy="16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1. Emergency Input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Captures patient details, symptoms, live location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Generates unique Case ID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Assigns priority/severity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2. Processing &amp; Intelligence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case management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Network quality analysis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Smart routing + continuous updates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3. Doctor &amp; Hospital Interaction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Doctors accept/decline cases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View vitals, add notes, track progress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communication + updates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4. Visualization &amp; Dashboard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Maps, heatmaps, ambulance tracking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Timelines, status panels, availability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Complete operational real-time view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86" name="Google Shape;186;p5"/>
          <p:cNvSpPr txBox="1"/>
          <p:nvPr/>
        </p:nvSpPr>
        <p:spPr>
          <a:xfrm>
            <a:off x="2054472" y="1385375"/>
            <a:ext cx="151407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90"/>
              <a:buFont typeface="Arial" panose="020B0604020202020204"/>
              <a:buNone/>
            </a:pPr>
            <a:r>
              <a:rPr lang="en-US" sz="569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 STACK + ARCHITECTURE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2431325" y="2680675"/>
            <a:ext cx="30432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 Stack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431084" y="1263273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9037800" y="2680675"/>
            <a:ext cx="44769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Architecture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0" name="Google Shape;190;p5" title="Screenshot 2025-11-19 163115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340375" y="2680675"/>
            <a:ext cx="4710075" cy="67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6"/>
          <p:cNvGrpSpPr/>
          <p:nvPr/>
        </p:nvGrpSpPr>
        <p:grpSpPr>
          <a:xfrm rot="8162908">
            <a:off x="9068444" y="-2917114"/>
            <a:ext cx="11783224" cy="12769445"/>
            <a:chOff x="0" y="0"/>
            <a:chExt cx="3103400" cy="3363146"/>
          </a:xfrm>
        </p:grpSpPr>
        <p:sp>
          <p:nvSpPr>
            <p:cNvPr id="196" name="Google Shape;196;p6"/>
            <p:cNvSpPr/>
            <p:nvPr/>
          </p:nvSpPr>
          <p:spPr>
            <a:xfrm>
              <a:off x="0" y="0"/>
              <a:ext cx="3103400" cy="3363146"/>
            </a:xfrm>
            <a:custGeom>
              <a:avLst/>
              <a:gdLst/>
              <a:ahLst/>
              <a:cxnLst/>
              <a:rect l="l" t="t" r="r" b="b"/>
              <a:pathLst>
                <a:path w="3103400" h="3363146" extrusionOk="0">
                  <a:moveTo>
                    <a:pt x="0" y="0"/>
                  </a:moveTo>
                  <a:lnTo>
                    <a:pt x="3103400" y="0"/>
                  </a:lnTo>
                  <a:lnTo>
                    <a:pt x="3103400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>
                    <a:alpha val="87843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7" name="Google Shape;197;p6"/>
            <p:cNvSpPr txBox="1"/>
            <p:nvPr/>
          </p:nvSpPr>
          <p:spPr>
            <a:xfrm>
              <a:off x="0" y="19050"/>
              <a:ext cx="3103400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-273205" y="7705027"/>
            <a:ext cx="18288000" cy="6686550"/>
            <a:chOff x="0" y="0"/>
            <a:chExt cx="4816593" cy="1761067"/>
          </a:xfrm>
        </p:grpSpPr>
        <p:sp>
          <p:nvSpPr>
            <p:cNvPr id="199" name="Google Shape;199;p6"/>
            <p:cNvSpPr/>
            <p:nvPr/>
          </p:nvSpPr>
          <p:spPr>
            <a:xfrm>
              <a:off x="0" y="0"/>
              <a:ext cx="4816592" cy="1761067"/>
            </a:xfrm>
            <a:custGeom>
              <a:avLst/>
              <a:gdLst/>
              <a:ahLst/>
              <a:cxnLst/>
              <a:rect l="l" t="t" r="r" b="b"/>
              <a:pathLst>
                <a:path w="4816592" h="176106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761067"/>
                  </a:lnTo>
                  <a:lnTo>
                    <a:pt x="0" y="1761067"/>
                  </a:lnTo>
                  <a:close/>
                </a:path>
              </a:pathLst>
            </a:custGeom>
            <a:gradFill>
              <a:gsLst>
                <a:gs pos="0">
                  <a:srgbClr val="2D2E34">
                    <a:alpha val="0"/>
                  </a:srgbClr>
                </a:gs>
                <a:gs pos="100000">
                  <a:srgbClr val="2D2E3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0" name="Google Shape;200;p6"/>
            <p:cNvSpPr txBox="1"/>
            <p:nvPr/>
          </p:nvSpPr>
          <p:spPr>
            <a:xfrm>
              <a:off x="0" y="19050"/>
              <a:ext cx="4816593" cy="174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1" name="Google Shape;201;p6"/>
          <p:cNvGrpSpPr/>
          <p:nvPr/>
        </p:nvGrpSpPr>
        <p:grpSpPr>
          <a:xfrm>
            <a:off x="2159514" y="6115695"/>
            <a:ext cx="2546867" cy="3514664"/>
            <a:chOff x="0" y="0"/>
            <a:chExt cx="670780" cy="925673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Network Variability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4G/5G quality differs across locations, affecting telemedicine and live updates.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5517749" y="6115695"/>
            <a:ext cx="2546867" cy="3514664"/>
            <a:chOff x="0" y="0"/>
            <a:chExt cx="670780" cy="925673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GPS Inaccuracy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tracking and optimized routing depend on accurate GPS data.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874241" y="6115695"/>
            <a:ext cx="2546867" cy="3514664"/>
            <a:chOff x="0" y="0"/>
            <a:chExt cx="670780" cy="925673"/>
          </a:xfrm>
        </p:grpSpPr>
        <p:sp>
          <p:nvSpPr>
            <p:cNvPr id="208" name="Google Shape;208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" name="Google Shape;209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Data Integration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Combining hospital, ambulance, and network data in real time is complex.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12206319" y="6115695"/>
            <a:ext cx="2546867" cy="3514664"/>
            <a:chOff x="0" y="0"/>
            <a:chExt cx="670780" cy="925673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User Adoption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Doctors, nurses, and ambulance staff require training to use the system smoothly.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3" name="Google Shape;213;p6"/>
          <p:cNvGrpSpPr/>
          <p:nvPr/>
        </p:nvGrpSpPr>
        <p:grpSpPr>
          <a:xfrm>
            <a:off x="4428517" y="9167739"/>
            <a:ext cx="422397" cy="422397"/>
            <a:chOff x="0" y="0"/>
            <a:chExt cx="563195" cy="563195"/>
          </a:xfrm>
        </p:grpSpPr>
        <p:grpSp>
          <p:nvGrpSpPr>
            <p:cNvPr id="214" name="Google Shape;214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16" name="Google Shape;216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17" name="Google Shape;217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18" name="Google Shape;218;p6"/>
          <p:cNvGrpSpPr/>
          <p:nvPr/>
        </p:nvGrpSpPr>
        <p:grpSpPr>
          <a:xfrm>
            <a:off x="7788487" y="9167739"/>
            <a:ext cx="422397" cy="422397"/>
            <a:chOff x="0" y="0"/>
            <a:chExt cx="563195" cy="563195"/>
          </a:xfrm>
        </p:grpSpPr>
        <p:grpSp>
          <p:nvGrpSpPr>
            <p:cNvPr id="219" name="Google Shape;219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22" name="Google Shape;222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23" name="Google Shape;223;p6"/>
          <p:cNvGrpSpPr/>
          <p:nvPr/>
        </p:nvGrpSpPr>
        <p:grpSpPr>
          <a:xfrm>
            <a:off x="11263666" y="9274637"/>
            <a:ext cx="422397" cy="422397"/>
            <a:chOff x="0" y="0"/>
            <a:chExt cx="563195" cy="563195"/>
          </a:xfrm>
        </p:grpSpPr>
        <p:grpSp>
          <p:nvGrpSpPr>
            <p:cNvPr id="224" name="Google Shape;224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25" name="Google Shape;225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" name="Google Shape;226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27" name="Google Shape;227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28" name="Google Shape;228;p6"/>
          <p:cNvGrpSpPr/>
          <p:nvPr/>
        </p:nvGrpSpPr>
        <p:grpSpPr>
          <a:xfrm>
            <a:off x="14457575" y="9274637"/>
            <a:ext cx="422397" cy="422397"/>
            <a:chOff x="0" y="0"/>
            <a:chExt cx="563195" cy="563195"/>
          </a:xfrm>
        </p:grpSpPr>
        <p:grpSp>
          <p:nvGrpSpPr>
            <p:cNvPr id="229" name="Google Shape;229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31" name="Google Shape;231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32" name="Google Shape;232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33" name="Google Shape;233;p6"/>
          <p:cNvSpPr txBox="1"/>
          <p:nvPr/>
        </p:nvSpPr>
        <p:spPr>
          <a:xfrm>
            <a:off x="3028513" y="6868385"/>
            <a:ext cx="80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34" name="Google Shape;234;p6"/>
          <p:cNvGrpSpPr/>
          <p:nvPr/>
        </p:nvGrpSpPr>
        <p:grpSpPr>
          <a:xfrm>
            <a:off x="2054482" y="2478412"/>
            <a:ext cx="9420443" cy="2574393"/>
            <a:chOff x="0" y="0"/>
            <a:chExt cx="2481088" cy="678025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2481088" cy="678025"/>
            </a:xfrm>
            <a:custGeom>
              <a:avLst/>
              <a:gdLst/>
              <a:ahLst/>
              <a:cxnLst/>
              <a:rect l="l" t="t" r="r" b="b"/>
              <a:pathLst>
                <a:path w="2481088" h="678025" extrusionOk="0">
                  <a:moveTo>
                    <a:pt x="17258" y="0"/>
                  </a:moveTo>
                  <a:lnTo>
                    <a:pt x="2463830" y="0"/>
                  </a:lnTo>
                  <a:cubicBezTo>
                    <a:pt x="2468407" y="0"/>
                    <a:pt x="2472797" y="1818"/>
                    <a:pt x="2476034" y="5055"/>
                  </a:cubicBezTo>
                  <a:cubicBezTo>
                    <a:pt x="2479270" y="8291"/>
                    <a:pt x="2481088" y="12681"/>
                    <a:pt x="2481088" y="17258"/>
                  </a:cubicBezTo>
                  <a:lnTo>
                    <a:pt x="2481088" y="660766"/>
                  </a:lnTo>
                  <a:cubicBezTo>
                    <a:pt x="2481088" y="665344"/>
                    <a:pt x="2479270" y="669733"/>
                    <a:pt x="2476034" y="672970"/>
                  </a:cubicBezTo>
                  <a:cubicBezTo>
                    <a:pt x="2472797" y="676207"/>
                    <a:pt x="2468407" y="678025"/>
                    <a:pt x="2463830" y="678025"/>
                  </a:cubicBezTo>
                  <a:lnTo>
                    <a:pt x="17258" y="678025"/>
                  </a:lnTo>
                  <a:cubicBezTo>
                    <a:pt x="12681" y="678025"/>
                    <a:pt x="8291" y="676207"/>
                    <a:pt x="5055" y="672970"/>
                  </a:cubicBezTo>
                  <a:cubicBezTo>
                    <a:pt x="1818" y="669733"/>
                    <a:pt x="0" y="665344"/>
                    <a:pt x="0" y="660766"/>
                  </a:cubicBezTo>
                  <a:lnTo>
                    <a:pt x="0" y="17258"/>
                  </a:lnTo>
                  <a:cubicBezTo>
                    <a:pt x="0" y="12681"/>
                    <a:pt x="1818" y="8291"/>
                    <a:pt x="5055" y="5055"/>
                  </a:cubicBezTo>
                  <a:cubicBezTo>
                    <a:pt x="8291" y="1818"/>
                    <a:pt x="12681" y="0"/>
                    <a:pt x="17258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0" y="19050"/>
              <a:ext cx="2481088" cy="65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Uses lightweight Python backend → easy to deploy.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Real-time APIs make live data integration practical.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Scalable for hospitals, ambulances &amp; telemedicine setups.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Works on existing 4G/5G networks (no special hardware).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37" name="Google Shape;237;p6"/>
          <p:cNvSpPr txBox="1"/>
          <p:nvPr/>
        </p:nvSpPr>
        <p:spPr>
          <a:xfrm>
            <a:off x="2247025" y="2478400"/>
            <a:ext cx="18915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sng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Feasibility </a:t>
            </a:r>
            <a:endParaRPr sz="1400" b="0" i="0" u="sng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2044949" y="1262250"/>
            <a:ext cx="12551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FEASIBILITY &amp; KEY CHALLENGES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431084" y="1244223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2247017" y="5414737"/>
            <a:ext cx="3769187" cy="50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 Challenges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7"/>
          <p:cNvGrpSpPr/>
          <p:nvPr/>
        </p:nvGrpSpPr>
        <p:grpSpPr>
          <a:xfrm rot="3221219">
            <a:off x="-4104668" y="-3418987"/>
            <a:ext cx="12914475" cy="12769445"/>
            <a:chOff x="0" y="0"/>
            <a:chExt cx="3401343" cy="3363146"/>
          </a:xfrm>
        </p:grpSpPr>
        <p:sp>
          <p:nvSpPr>
            <p:cNvPr id="246" name="Google Shape;246;p7"/>
            <p:cNvSpPr/>
            <p:nvPr/>
          </p:nvSpPr>
          <p:spPr>
            <a:xfrm>
              <a:off x="0" y="0"/>
              <a:ext cx="3401343" cy="3363146"/>
            </a:xfrm>
            <a:custGeom>
              <a:avLst/>
              <a:gdLst/>
              <a:ahLst/>
              <a:cxnLst/>
              <a:rect l="l" t="t" r="r" b="b"/>
              <a:pathLst>
                <a:path w="3401343" h="3363146" extrusionOk="0">
                  <a:moveTo>
                    <a:pt x="0" y="0"/>
                  </a:moveTo>
                  <a:lnTo>
                    <a:pt x="3401343" y="0"/>
                  </a:lnTo>
                  <a:lnTo>
                    <a:pt x="340134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47" name="Google Shape;247;p7"/>
            <p:cNvSpPr txBox="1"/>
            <p:nvPr/>
          </p:nvSpPr>
          <p:spPr>
            <a:xfrm>
              <a:off x="0" y="19050"/>
              <a:ext cx="3401343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8" name="Google Shape;248;p7"/>
          <p:cNvGrpSpPr/>
          <p:nvPr/>
        </p:nvGrpSpPr>
        <p:grpSpPr>
          <a:xfrm>
            <a:off x="2159514" y="2807192"/>
            <a:ext cx="10464565" cy="5756678"/>
            <a:chOff x="0" y="0"/>
            <a:chExt cx="2756100" cy="1516162"/>
          </a:xfrm>
        </p:grpSpPr>
        <p:sp>
          <p:nvSpPr>
            <p:cNvPr id="249" name="Google Shape;249;p7"/>
            <p:cNvSpPr/>
            <p:nvPr/>
          </p:nvSpPr>
          <p:spPr>
            <a:xfrm>
              <a:off x="0" y="0"/>
              <a:ext cx="2755983" cy="1516162"/>
            </a:xfrm>
            <a:custGeom>
              <a:avLst/>
              <a:gdLst/>
              <a:ahLst/>
              <a:cxnLst/>
              <a:rect l="l" t="t" r="r" b="b"/>
              <a:pathLst>
                <a:path w="2755983" h="1516162" extrusionOk="0">
                  <a:moveTo>
                    <a:pt x="15537" y="0"/>
                  </a:moveTo>
                  <a:lnTo>
                    <a:pt x="2740446" y="0"/>
                  </a:lnTo>
                  <a:cubicBezTo>
                    <a:pt x="2749026" y="0"/>
                    <a:pt x="2755983" y="6956"/>
                    <a:pt x="2755983" y="15537"/>
                  </a:cubicBezTo>
                  <a:lnTo>
                    <a:pt x="2755983" y="1500625"/>
                  </a:lnTo>
                  <a:cubicBezTo>
                    <a:pt x="2755983" y="1504746"/>
                    <a:pt x="2754346" y="1508698"/>
                    <a:pt x="2751432" y="1511612"/>
                  </a:cubicBezTo>
                  <a:cubicBezTo>
                    <a:pt x="2748518" y="1514525"/>
                    <a:pt x="2744566" y="1516162"/>
                    <a:pt x="2740446" y="1516162"/>
                  </a:cubicBezTo>
                  <a:lnTo>
                    <a:pt x="15537" y="1516162"/>
                  </a:lnTo>
                  <a:cubicBezTo>
                    <a:pt x="11416" y="1516162"/>
                    <a:pt x="7464" y="1514525"/>
                    <a:pt x="4551" y="1511612"/>
                  </a:cubicBezTo>
                  <a:cubicBezTo>
                    <a:pt x="1637" y="1508698"/>
                    <a:pt x="0" y="1504746"/>
                    <a:pt x="0" y="1500625"/>
                  </a:cubicBezTo>
                  <a:lnTo>
                    <a:pt x="0" y="15537"/>
                  </a:lnTo>
                  <a:cubicBezTo>
                    <a:pt x="0" y="11416"/>
                    <a:pt x="1637" y="7464"/>
                    <a:pt x="4551" y="4551"/>
                  </a:cubicBezTo>
                  <a:cubicBezTo>
                    <a:pt x="7464" y="1637"/>
                    <a:pt x="11416" y="0"/>
                    <a:pt x="15537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0" y="19050"/>
              <a:ext cx="2756100" cy="14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First emergency system combining healthcare + real-time network analytics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Dynamic network heatmaps for telemedicine quality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End-to-end case lifecycle in one interface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Low-cost, high-impact prototype deployable on hospitals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Works on real-time data streams, not static forms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p7"/>
          <p:cNvSpPr txBox="1"/>
          <p:nvPr/>
        </p:nvSpPr>
        <p:spPr>
          <a:xfrm>
            <a:off x="2092850" y="1238450"/>
            <a:ext cx="16058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UNIQUE SELLING POINT &amp; BUSINESS MODEL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4468600" y="3060225"/>
            <a:ext cx="63885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USP (Unique Selling Point)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431084" y="1239460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8"/>
          <p:cNvGrpSpPr/>
          <p:nvPr/>
        </p:nvGrpSpPr>
        <p:grpSpPr>
          <a:xfrm rot="3221219">
            <a:off x="-4104668" y="-3418987"/>
            <a:ext cx="12914475" cy="12769445"/>
            <a:chOff x="0" y="0"/>
            <a:chExt cx="3401343" cy="3363146"/>
          </a:xfrm>
        </p:grpSpPr>
        <p:sp>
          <p:nvSpPr>
            <p:cNvPr id="259" name="Google Shape;259;p8"/>
            <p:cNvSpPr/>
            <p:nvPr/>
          </p:nvSpPr>
          <p:spPr>
            <a:xfrm>
              <a:off x="0" y="0"/>
              <a:ext cx="3401343" cy="3363146"/>
            </a:xfrm>
            <a:custGeom>
              <a:avLst/>
              <a:gdLst/>
              <a:ahLst/>
              <a:cxnLst/>
              <a:rect l="l" t="t" r="r" b="b"/>
              <a:pathLst>
                <a:path w="3401343" h="3363146" extrusionOk="0">
                  <a:moveTo>
                    <a:pt x="0" y="0"/>
                  </a:moveTo>
                  <a:lnTo>
                    <a:pt x="3401343" y="0"/>
                  </a:lnTo>
                  <a:lnTo>
                    <a:pt x="340134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60" name="Google Shape;260;p8"/>
            <p:cNvSpPr txBox="1"/>
            <p:nvPr/>
          </p:nvSpPr>
          <p:spPr>
            <a:xfrm>
              <a:off x="0" y="19050"/>
              <a:ext cx="3401343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1" name="Google Shape;261;p8"/>
          <p:cNvGrpSpPr/>
          <p:nvPr/>
        </p:nvGrpSpPr>
        <p:grpSpPr>
          <a:xfrm>
            <a:off x="2393183" y="1363784"/>
            <a:ext cx="13501633" cy="7559432"/>
            <a:chOff x="0" y="0"/>
            <a:chExt cx="3555986" cy="1990961"/>
          </a:xfrm>
        </p:grpSpPr>
        <p:sp>
          <p:nvSpPr>
            <p:cNvPr id="262" name="Google Shape;262;p8"/>
            <p:cNvSpPr/>
            <p:nvPr/>
          </p:nvSpPr>
          <p:spPr>
            <a:xfrm>
              <a:off x="0" y="0"/>
              <a:ext cx="3555986" cy="1990961"/>
            </a:xfrm>
            <a:custGeom>
              <a:avLst/>
              <a:gdLst/>
              <a:ahLst/>
              <a:cxnLst/>
              <a:rect l="l" t="t" r="r" b="b"/>
              <a:pathLst>
                <a:path w="3555986" h="1990961" extrusionOk="0">
                  <a:moveTo>
                    <a:pt x="12042" y="0"/>
                  </a:moveTo>
                  <a:lnTo>
                    <a:pt x="3543944" y="0"/>
                  </a:lnTo>
                  <a:cubicBezTo>
                    <a:pt x="3547138" y="0"/>
                    <a:pt x="3550201" y="1269"/>
                    <a:pt x="3552459" y="3527"/>
                  </a:cubicBezTo>
                  <a:cubicBezTo>
                    <a:pt x="3554717" y="5785"/>
                    <a:pt x="3555986" y="8848"/>
                    <a:pt x="3555986" y="12042"/>
                  </a:cubicBezTo>
                  <a:lnTo>
                    <a:pt x="3555986" y="1978920"/>
                  </a:lnTo>
                  <a:cubicBezTo>
                    <a:pt x="3555986" y="1985570"/>
                    <a:pt x="3550595" y="1990961"/>
                    <a:pt x="3543944" y="1990961"/>
                  </a:cubicBezTo>
                  <a:lnTo>
                    <a:pt x="12042" y="1990961"/>
                  </a:lnTo>
                  <a:cubicBezTo>
                    <a:pt x="8848" y="1990961"/>
                    <a:pt x="5785" y="1989693"/>
                    <a:pt x="3527" y="1987435"/>
                  </a:cubicBezTo>
                  <a:cubicBezTo>
                    <a:pt x="1269" y="1985176"/>
                    <a:pt x="0" y="1982114"/>
                    <a:pt x="0" y="1978920"/>
                  </a:cubicBezTo>
                  <a:lnTo>
                    <a:pt x="0" y="12042"/>
                  </a:lnTo>
                  <a:cubicBezTo>
                    <a:pt x="0" y="8848"/>
                    <a:pt x="1269" y="5785"/>
                    <a:pt x="3527" y="3527"/>
                  </a:cubicBezTo>
                  <a:cubicBezTo>
                    <a:pt x="5785" y="1269"/>
                    <a:pt x="8848" y="0"/>
                    <a:pt x="12042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8"/>
            <p:cNvSpPr txBox="1"/>
            <p:nvPr/>
          </p:nvSpPr>
          <p:spPr>
            <a:xfrm>
              <a:off x="0" y="19050"/>
              <a:ext cx="3555986" cy="1971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B2B Subscription – Hospitals pay monthly/annual fees.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Ambulance Integration Fee – Charge per ambulance added.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API Partnerships – Revenue from telemedicine &amp; govt integrations.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Premium Add-Ons – AI triage, ETA prediction, advanced analytics.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Customization Services – Hospital-specific dashboards &amp; modules.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Maintenance &amp; Support – Annual support and service fees.</a:t>
              </a: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30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4" name="Google Shape;264;p8"/>
          <p:cNvGrpSpPr/>
          <p:nvPr/>
        </p:nvGrpSpPr>
        <p:grpSpPr>
          <a:xfrm>
            <a:off x="2812075" y="2602237"/>
            <a:ext cx="707573" cy="5520020"/>
            <a:chOff x="0" y="1"/>
            <a:chExt cx="943430" cy="7360027"/>
          </a:xfrm>
        </p:grpSpPr>
        <p:grpSp>
          <p:nvGrpSpPr>
            <p:cNvPr id="265" name="Google Shape;265;p8"/>
            <p:cNvGrpSpPr/>
            <p:nvPr/>
          </p:nvGrpSpPr>
          <p:grpSpPr>
            <a:xfrm rot="5400000">
              <a:off x="-3208299" y="3208299"/>
              <a:ext cx="7360027" cy="943430"/>
              <a:chOff x="0" y="-38100"/>
              <a:chExt cx="1453833" cy="186357"/>
            </a:xfrm>
          </p:grpSpPr>
          <p:sp>
            <p:nvSpPr>
              <p:cNvPr id="266" name="Google Shape;266;p8"/>
              <p:cNvSpPr/>
              <p:nvPr/>
            </p:nvSpPr>
            <p:spPr>
              <a:xfrm>
                <a:off x="0" y="0"/>
                <a:ext cx="1453832" cy="148257"/>
              </a:xfrm>
              <a:custGeom>
                <a:avLst/>
                <a:gdLst/>
                <a:ahLst/>
                <a:cxnLst/>
                <a:rect l="l" t="t" r="r" b="b"/>
                <a:pathLst>
                  <a:path w="1453832" h="148257" extrusionOk="0">
                    <a:moveTo>
                      <a:pt x="74128" y="0"/>
                    </a:moveTo>
                    <a:lnTo>
                      <a:pt x="1379704" y="0"/>
                    </a:lnTo>
                    <a:cubicBezTo>
                      <a:pt x="1420644" y="0"/>
                      <a:pt x="1453832" y="33188"/>
                      <a:pt x="1453832" y="74128"/>
                    </a:cubicBezTo>
                    <a:lnTo>
                      <a:pt x="1453832" y="74128"/>
                    </a:lnTo>
                    <a:cubicBezTo>
                      <a:pt x="1453832" y="93788"/>
                      <a:pt x="1446023" y="112643"/>
                      <a:pt x="1432121" y="126545"/>
                    </a:cubicBezTo>
                    <a:cubicBezTo>
                      <a:pt x="1418219" y="140447"/>
                      <a:pt x="1399364" y="148257"/>
                      <a:pt x="1379704" y="148257"/>
                    </a:cubicBezTo>
                    <a:lnTo>
                      <a:pt x="74128" y="148257"/>
                    </a:lnTo>
                    <a:cubicBezTo>
                      <a:pt x="54468" y="148257"/>
                      <a:pt x="35613" y="140447"/>
                      <a:pt x="21712" y="126545"/>
                    </a:cubicBezTo>
                    <a:cubicBezTo>
                      <a:pt x="7810" y="112643"/>
                      <a:pt x="0" y="93788"/>
                      <a:pt x="0" y="74128"/>
                    </a:cubicBezTo>
                    <a:lnTo>
                      <a:pt x="0" y="74128"/>
                    </a:lnTo>
                    <a:cubicBezTo>
                      <a:pt x="0" y="54468"/>
                      <a:pt x="7810" y="35613"/>
                      <a:pt x="21712" y="21712"/>
                    </a:cubicBezTo>
                    <a:cubicBezTo>
                      <a:pt x="35613" y="7810"/>
                      <a:pt x="54468" y="0"/>
                      <a:pt x="7412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67" name="Google Shape;267;p8"/>
              <p:cNvSpPr txBox="1"/>
              <p:nvPr/>
            </p:nvSpPr>
            <p:spPr>
              <a:xfrm>
                <a:off x="0" y="-38100"/>
                <a:ext cx="1453833" cy="186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68" name="Google Shape;268;p8"/>
            <p:cNvGrpSpPr/>
            <p:nvPr/>
          </p:nvGrpSpPr>
          <p:grpSpPr>
            <a:xfrm>
              <a:off x="197451" y="738450"/>
              <a:ext cx="355647" cy="355647"/>
              <a:chOff x="0" y="0"/>
              <a:chExt cx="812800" cy="812800"/>
            </a:xfrm>
          </p:grpSpPr>
          <p:sp>
            <p:nvSpPr>
              <p:cNvPr id="269" name="Google Shape;26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0" name="Google Shape;270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1" name="Google Shape;271;p8"/>
            <p:cNvGrpSpPr/>
            <p:nvPr/>
          </p:nvGrpSpPr>
          <p:grpSpPr>
            <a:xfrm>
              <a:off x="197451" y="2581243"/>
              <a:ext cx="355647" cy="355647"/>
              <a:chOff x="0" y="0"/>
              <a:chExt cx="812800" cy="812800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3" name="Google Shape;273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4" name="Google Shape;274;p8"/>
            <p:cNvGrpSpPr/>
            <p:nvPr/>
          </p:nvGrpSpPr>
          <p:grpSpPr>
            <a:xfrm>
              <a:off x="197451" y="4422790"/>
              <a:ext cx="355647" cy="355647"/>
              <a:chOff x="0" y="0"/>
              <a:chExt cx="812800" cy="812800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>
              <a:off x="197451" y="6264338"/>
              <a:ext cx="355647" cy="355647"/>
              <a:chOff x="0" y="0"/>
              <a:chExt cx="812800" cy="812800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280" name="Google Shape;280;p8"/>
          <p:cNvSpPr txBox="1"/>
          <p:nvPr/>
        </p:nvSpPr>
        <p:spPr>
          <a:xfrm>
            <a:off x="7676574" y="1615925"/>
            <a:ext cx="32811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Business Model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9"/>
          <p:cNvGrpSpPr/>
          <p:nvPr/>
        </p:nvGrpSpPr>
        <p:grpSpPr>
          <a:xfrm rot="5400000">
            <a:off x="1267424" y="-10839299"/>
            <a:ext cx="15469850" cy="21422947"/>
            <a:chOff x="0" y="0"/>
            <a:chExt cx="4074364" cy="5642258"/>
          </a:xfrm>
        </p:grpSpPr>
        <p:sp>
          <p:nvSpPr>
            <p:cNvPr id="286" name="Google Shape;286;p9"/>
            <p:cNvSpPr/>
            <p:nvPr/>
          </p:nvSpPr>
          <p:spPr>
            <a:xfrm>
              <a:off x="0" y="0"/>
              <a:ext cx="4074364" cy="5642258"/>
            </a:xfrm>
            <a:custGeom>
              <a:avLst/>
              <a:gdLst/>
              <a:ahLst/>
              <a:cxnLst/>
              <a:rect l="l" t="t" r="r" b="b"/>
              <a:pathLst>
                <a:path w="4074364" h="5642258" extrusionOk="0">
                  <a:moveTo>
                    <a:pt x="0" y="0"/>
                  </a:moveTo>
                  <a:lnTo>
                    <a:pt x="4074364" y="0"/>
                  </a:lnTo>
                  <a:lnTo>
                    <a:pt x="4074364" y="5642258"/>
                  </a:lnTo>
                  <a:lnTo>
                    <a:pt x="0" y="5642258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87" name="Google Shape;287;p9"/>
            <p:cNvSpPr txBox="1"/>
            <p:nvPr/>
          </p:nvSpPr>
          <p:spPr>
            <a:xfrm>
              <a:off x="0" y="19050"/>
              <a:ext cx="4074364" cy="562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88" name="Google Shape;288;p9"/>
          <p:cNvSpPr/>
          <p:nvPr/>
        </p:nvSpPr>
        <p:spPr>
          <a:xfrm>
            <a:off x="2054482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VIKAS SINGH: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Full Stack Development and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 Architecture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734832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DRASHANT TOMAR: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Backend &amp; API Integration 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9415181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ASTHA PATHANIA: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Frontend &amp; UI/UX Design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13095531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UPASNA PATEL: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Strategy &amp; Networking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2500657" y="3175967"/>
            <a:ext cx="2417876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189109" y="3175967"/>
            <a:ext cx="2286050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9875335" y="3175967"/>
            <a:ext cx="2207331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13482880" y="3175967"/>
            <a:ext cx="2085609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2054482" y="1263273"/>
            <a:ext cx="6213941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n-US" sz="6000" b="1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TEAM MEMBERS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431084" y="1244223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0"/>
          <p:cNvGrpSpPr/>
          <p:nvPr/>
        </p:nvGrpSpPr>
        <p:grpSpPr>
          <a:xfrm rot="-4011154">
            <a:off x="11938020" y="-1089190"/>
            <a:ext cx="17403374" cy="18180272"/>
            <a:chOff x="0" y="0"/>
            <a:chExt cx="4583605" cy="4788220"/>
          </a:xfrm>
        </p:grpSpPr>
        <p:sp>
          <p:nvSpPr>
            <p:cNvPr id="303" name="Google Shape;303;p10"/>
            <p:cNvSpPr/>
            <p:nvPr/>
          </p:nvSpPr>
          <p:spPr>
            <a:xfrm>
              <a:off x="0" y="0"/>
              <a:ext cx="4583605" cy="4788220"/>
            </a:xfrm>
            <a:custGeom>
              <a:avLst/>
              <a:gdLst/>
              <a:ahLst/>
              <a:cxnLst/>
              <a:rect l="l" t="t" r="r" b="b"/>
              <a:pathLst>
                <a:path w="4583605" h="4788220" extrusionOk="0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04" name="Google Shape;304;p10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305" name="Google Shape;305;p10"/>
          <p:cNvCxnSpPr/>
          <p:nvPr/>
        </p:nvCxnSpPr>
        <p:spPr>
          <a:xfrm>
            <a:off x="6081813" y="6396889"/>
            <a:ext cx="6124373" cy="0"/>
          </a:xfrm>
          <a:prstGeom prst="straightConnector1">
            <a:avLst/>
          </a:prstGeom>
          <a:noFill/>
          <a:ln w="476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10"/>
          <p:cNvSpPr txBox="1"/>
          <p:nvPr/>
        </p:nvSpPr>
        <p:spPr>
          <a:xfrm>
            <a:off x="3684496" y="3771049"/>
            <a:ext cx="10919008" cy="272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17"/>
              <a:buFont typeface="Arial" panose="020B0604020202020204"/>
              <a:buNone/>
            </a:pPr>
            <a:r>
              <a:rPr lang="en-US" sz="15015" b="1" i="0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</a:t>
            </a:r>
            <a:r>
              <a:rPr lang="en-US" sz="150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07" name="Google Shape;307;p10"/>
          <p:cNvGrpSpPr/>
          <p:nvPr/>
        </p:nvGrpSpPr>
        <p:grpSpPr>
          <a:xfrm rot="1383774">
            <a:off x="15231393" y="-990402"/>
            <a:ext cx="6971453" cy="14341591"/>
            <a:chOff x="0" y="0"/>
            <a:chExt cx="1836103" cy="3777209"/>
          </a:xfrm>
        </p:grpSpPr>
        <p:sp>
          <p:nvSpPr>
            <p:cNvPr id="308" name="Google Shape;308;p10"/>
            <p:cNvSpPr/>
            <p:nvPr/>
          </p:nvSpPr>
          <p:spPr>
            <a:xfrm>
              <a:off x="0" y="0"/>
              <a:ext cx="1836103" cy="3777209"/>
            </a:xfrm>
            <a:custGeom>
              <a:avLst/>
              <a:gdLst/>
              <a:ahLst/>
              <a:cxnLst/>
              <a:rect l="l" t="t" r="r" b="b"/>
              <a:pathLst>
                <a:path w="1836103" h="3777209" extrusionOk="0">
                  <a:moveTo>
                    <a:pt x="0" y="0"/>
                  </a:moveTo>
                  <a:lnTo>
                    <a:pt x="1836103" y="0"/>
                  </a:lnTo>
                  <a:lnTo>
                    <a:pt x="1836103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09" name="Google Shape;309;p10"/>
            <p:cNvSpPr txBox="1"/>
            <p:nvPr/>
          </p:nvSpPr>
          <p:spPr>
            <a:xfrm>
              <a:off x="0" y="28575"/>
              <a:ext cx="1836103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4084</Words>
  <Application>WPS Presentation</Application>
  <PresentationFormat/>
  <Paragraphs>246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Poppins</vt:lpstr>
      <vt:lpstr>League Spartan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Upasna Patel</cp:lastModifiedBy>
  <cp:revision>4</cp:revision>
  <dcterms:created xsi:type="dcterms:W3CDTF">2026-01-31T16:17:19Z</dcterms:created>
  <dcterms:modified xsi:type="dcterms:W3CDTF">2026-01-31T16:23:31Z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1A77B2BA26E647759648021AE897F7FA_13</vt:lpwstr>
  </property>
  <property fmtid="{D5CDD505-2E9C-101B-9397-08002B2CF9AE}" pid="3" name="KSOProductBuildVer">
    <vt:lpwstr>1033-12.2.0.23196</vt:lpwstr>
  </property>
</Properties>
</file>